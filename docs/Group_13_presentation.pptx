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oboto Bold" charset="1" panose="02000000000000000000"/>
      <p:regular r:id="rId22"/>
    </p:embeddedFont>
    <p:embeddedFont>
      <p:font typeface="Roboto" charset="1" panose="02000000000000000000"/>
      <p:regular r:id="rId23"/>
    </p:embeddedFont>
    <p:embeddedFont>
      <p:font typeface="Raleway" charset="1" panose="00000000000000000000"/>
      <p:regular r:id="rId24"/>
    </p:embeddedFont>
    <p:embeddedFont>
      <p:font typeface="Inter Bold" charset="1" panose="02000503000000020004"/>
      <p:regular r:id="rId25"/>
    </p:embeddedFont>
    <p:embeddedFont>
      <p:font typeface="Inter" charset="1" panose="02000503000000020004"/>
      <p:regular r:id="rId26"/>
    </p:embeddedFont>
    <p:embeddedFont>
      <p:font typeface="Roboto Bold Italics" charset="1" panose="02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21.jpe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755733" cy="10287000"/>
          </a:xfrm>
          <a:custGeom>
            <a:avLst/>
            <a:gdLst/>
            <a:ahLst/>
            <a:cxnLst/>
            <a:rect r="r" b="b" t="t" l="l"/>
            <a:pathLst>
              <a:path h="10287000" w="6755733">
                <a:moveTo>
                  <a:pt x="0" y="0"/>
                </a:moveTo>
                <a:lnTo>
                  <a:pt x="6755733" y="0"/>
                </a:lnTo>
                <a:lnTo>
                  <a:pt x="67557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1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807" y="1400980"/>
            <a:ext cx="5611829" cy="7485041"/>
          </a:xfrm>
          <a:custGeom>
            <a:avLst/>
            <a:gdLst/>
            <a:ahLst/>
            <a:cxnLst/>
            <a:rect r="r" b="b" t="t" l="l"/>
            <a:pathLst>
              <a:path h="7485041" w="5611829">
                <a:moveTo>
                  <a:pt x="0" y="0"/>
                </a:moveTo>
                <a:lnTo>
                  <a:pt x="5611829" y="0"/>
                </a:lnTo>
                <a:lnTo>
                  <a:pt x="5611829" y="7485040"/>
                </a:lnTo>
                <a:lnTo>
                  <a:pt x="0" y="7485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81" t="-4481" r="-5465" b="-5465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7393272" y="5673653"/>
          <a:ext cx="13730288" cy="3143250"/>
        </p:xfrm>
        <a:graphic>
          <a:graphicData uri="http://schemas.openxmlformats.org/presentationml/2006/ole">
            <p:oleObj imgW="16471900" imgH="5880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7393272" y="1777685"/>
            <a:ext cx="9866028" cy="165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  <a:spcBef>
                <a:spcPct val="0"/>
              </a:spcBef>
            </a:pPr>
            <a:r>
              <a:rPr lang="en-US" b="true" sz="475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Smart Attendance System: AI-Powered Facial Recognition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93272" y="3601531"/>
            <a:ext cx="9866028" cy="83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  <a:spcBef>
                <a:spcPct val="0"/>
              </a:spcBef>
            </a:pPr>
            <a:r>
              <a:rPr lang="en-US" sz="237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 end-to-end biometric solution for automated, accurate, and tamper-proof classroom attendance tracking.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32410"/>
            <a:ext cx="8633440" cy="1589490"/>
          </a:xfrm>
          <a:custGeom>
            <a:avLst/>
            <a:gdLst/>
            <a:ahLst/>
            <a:cxnLst/>
            <a:rect r="r" b="b" t="t" l="l"/>
            <a:pathLst>
              <a:path h="1589490" w="8633440">
                <a:moveTo>
                  <a:pt x="0" y="0"/>
                </a:moveTo>
                <a:lnTo>
                  <a:pt x="8633440" y="0"/>
                </a:lnTo>
                <a:lnTo>
                  <a:pt x="8633440" y="1589490"/>
                </a:lnTo>
                <a:lnTo>
                  <a:pt x="0" y="1589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560025"/>
            <a:ext cx="8633440" cy="1589490"/>
          </a:xfrm>
          <a:custGeom>
            <a:avLst/>
            <a:gdLst/>
            <a:ahLst/>
            <a:cxnLst/>
            <a:rect r="r" b="b" t="t" l="l"/>
            <a:pathLst>
              <a:path h="1589490" w="8633440">
                <a:moveTo>
                  <a:pt x="0" y="0"/>
                </a:moveTo>
                <a:lnTo>
                  <a:pt x="8633440" y="0"/>
                </a:lnTo>
                <a:lnTo>
                  <a:pt x="8633440" y="1589490"/>
                </a:lnTo>
                <a:lnTo>
                  <a:pt x="0" y="1589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387640"/>
            <a:ext cx="8633440" cy="1589490"/>
          </a:xfrm>
          <a:custGeom>
            <a:avLst/>
            <a:gdLst/>
            <a:ahLst/>
            <a:cxnLst/>
            <a:rect r="r" b="b" t="t" l="l"/>
            <a:pathLst>
              <a:path h="1589490" w="8633440">
                <a:moveTo>
                  <a:pt x="0" y="0"/>
                </a:moveTo>
                <a:lnTo>
                  <a:pt x="8633440" y="0"/>
                </a:lnTo>
                <a:lnTo>
                  <a:pt x="8633440" y="1589489"/>
                </a:lnTo>
                <a:lnTo>
                  <a:pt x="0" y="158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215254"/>
            <a:ext cx="8633440" cy="1589490"/>
          </a:xfrm>
          <a:custGeom>
            <a:avLst/>
            <a:gdLst/>
            <a:ahLst/>
            <a:cxnLst/>
            <a:rect r="r" b="b" t="t" l="l"/>
            <a:pathLst>
              <a:path h="1589490" w="8633440">
                <a:moveTo>
                  <a:pt x="0" y="0"/>
                </a:moveTo>
                <a:lnTo>
                  <a:pt x="8633440" y="0"/>
                </a:lnTo>
                <a:lnTo>
                  <a:pt x="8633440" y="1589490"/>
                </a:lnTo>
                <a:lnTo>
                  <a:pt x="0" y="1589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77922" y="0"/>
            <a:ext cx="7710078" cy="10287000"/>
          </a:xfrm>
          <a:custGeom>
            <a:avLst/>
            <a:gdLst/>
            <a:ahLst/>
            <a:cxnLst/>
            <a:rect r="r" b="b" t="t" l="l"/>
            <a:pathLst>
              <a:path h="10287000" w="7710078">
                <a:moveTo>
                  <a:pt x="0" y="0"/>
                </a:moveTo>
                <a:lnTo>
                  <a:pt x="7710078" y="0"/>
                </a:lnTo>
                <a:lnTo>
                  <a:pt x="77100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063" r="-1513" b="-70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77922" y="5223"/>
            <a:ext cx="7710078" cy="10276554"/>
          </a:xfrm>
          <a:custGeom>
            <a:avLst/>
            <a:gdLst/>
            <a:ahLst/>
            <a:cxnLst/>
            <a:rect r="r" b="b" t="t" l="l"/>
            <a:pathLst>
              <a:path h="10276554" w="7710078">
                <a:moveTo>
                  <a:pt x="0" y="0"/>
                </a:moveTo>
                <a:lnTo>
                  <a:pt x="7710078" y="0"/>
                </a:lnTo>
                <a:lnTo>
                  <a:pt x="7710078" y="10276554"/>
                </a:lnTo>
                <a:lnTo>
                  <a:pt x="0" y="10276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31018"/>
            <a:ext cx="9549222" cy="156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5"/>
              </a:lnSpc>
              <a:spcBef>
                <a:spcPct val="0"/>
              </a:spcBef>
            </a:pPr>
            <a:r>
              <a:rPr lang="en-US" b="true" sz="445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Problem: Manual Attendance Fails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537985" y="2968534"/>
            <a:ext cx="5433739" cy="44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⏱ Time Lost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6791" y="3351833"/>
            <a:ext cx="8186423" cy="8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Teachers waste </a:t>
            </a:r>
            <a:r>
              <a:rPr lang="en-US" b="true" sz="235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5–10 minutes</a:t>
            </a:r>
            <a:r>
              <a:rPr lang="en-US" sz="235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per class on roll calls adding up to hours each semester.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6791" y="8777959"/>
            <a:ext cx="8186423" cy="8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5"/>
              </a:lnSpc>
              <a:spcBef>
                <a:spcPct val="0"/>
              </a:spcBef>
            </a:pPr>
            <a:r>
              <a:rPr lang="en-US" sz="2354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reliable mechanism stops students from signing in for absent peers.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6791" y="7006765"/>
            <a:ext cx="8633440" cy="8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5"/>
              </a:lnSpc>
              <a:spcBef>
                <a:spcPct val="0"/>
              </a:spcBef>
            </a:pPr>
            <a:r>
              <a:rPr lang="en-US" sz="2354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Large lecture halls make manual tracking nearly impossible to manage accurately.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6791" y="5179150"/>
            <a:ext cx="8633440" cy="8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5"/>
              </a:lnSpc>
              <a:spcBef>
                <a:spcPct val="0"/>
              </a:spcBef>
            </a:pPr>
            <a:r>
              <a:rPr lang="en-US" sz="2354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Missed names, data entry mistakes, and proxy attendance undermine data integrity.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2010324" y="4798150"/>
            <a:ext cx="8633440" cy="4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 Error-Prone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797805" y="6482890"/>
            <a:ext cx="8633440" cy="4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🏛 Scale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1797805" y="8310504"/>
            <a:ext cx="8633440" cy="4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sz="235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🚫 No Prevention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932259" cy="10287000"/>
          </a:xfrm>
          <a:custGeom>
            <a:avLst/>
            <a:gdLst/>
            <a:ahLst/>
            <a:cxnLst/>
            <a:rect r="r" b="b" t="t" l="l"/>
            <a:pathLst>
              <a:path h="10287000" w="7932259">
                <a:moveTo>
                  <a:pt x="0" y="0"/>
                </a:moveTo>
                <a:lnTo>
                  <a:pt x="7932259" y="0"/>
                </a:lnTo>
                <a:lnTo>
                  <a:pt x="793225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32" r="0" b="-78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9945"/>
            <a:ext cx="7932259" cy="9827109"/>
          </a:xfrm>
          <a:custGeom>
            <a:avLst/>
            <a:gdLst/>
            <a:ahLst/>
            <a:cxnLst/>
            <a:rect r="r" b="b" t="t" l="l"/>
            <a:pathLst>
              <a:path h="9827109" w="7932259">
                <a:moveTo>
                  <a:pt x="0" y="0"/>
                </a:moveTo>
                <a:lnTo>
                  <a:pt x="7932259" y="0"/>
                </a:lnTo>
                <a:lnTo>
                  <a:pt x="7932259" y="9827110"/>
                </a:lnTo>
                <a:lnTo>
                  <a:pt x="0" y="9827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36" t="0" r="-10255" b="-39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12693" y="933450"/>
            <a:ext cx="8947477" cy="156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35"/>
              </a:lnSpc>
              <a:spcBef>
                <a:spcPct val="0"/>
              </a:spcBef>
            </a:pPr>
            <a:r>
              <a:rPr lang="en-US" b="true" sz="4454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Solution: Automated Biometric Recognition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12693" y="3009573"/>
            <a:ext cx="9387112" cy="434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3"/>
              </a:lnSpc>
              <a:spcBef>
                <a:spcPct val="0"/>
              </a:spcBef>
            </a:pPr>
            <a:r>
              <a:rPr lang="en-US" sz="3074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•Facial recognition identifies students instantly and accurately</a:t>
            </a:r>
          </a:p>
          <a:p>
            <a:pPr algn="l" marL="0" indent="0" lvl="0">
              <a:lnSpc>
                <a:spcPts val="4303"/>
              </a:lnSpc>
              <a:spcBef>
                <a:spcPct val="0"/>
              </a:spcBef>
            </a:pPr>
            <a:r>
              <a:rPr lang="en-US" sz="3074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•Contactless, non-intrusive biometric verification no physical interaction required</a:t>
            </a:r>
          </a:p>
          <a:p>
            <a:pPr algn="l" marL="0" indent="0" lvl="0">
              <a:lnSpc>
                <a:spcPts val="4303"/>
              </a:lnSpc>
              <a:spcBef>
                <a:spcPct val="0"/>
              </a:spcBef>
            </a:pPr>
            <a:r>
              <a:rPr lang="en-US" sz="3074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•Automatic timestamp logging eliminates manual data entry entirely</a:t>
            </a:r>
          </a:p>
          <a:p>
            <a:pPr algn="l" marL="0" indent="0" lvl="0">
              <a:lnSpc>
                <a:spcPts val="4303"/>
              </a:lnSpc>
              <a:spcBef>
                <a:spcPct val="0"/>
              </a:spcBef>
            </a:pPr>
            <a:r>
              <a:rPr lang="en-US" sz="3074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•Prevents proxy attendance impossible to fake another person's face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84216" y="4985257"/>
            <a:ext cx="8110463" cy="2657190"/>
          </a:xfrm>
          <a:custGeom>
            <a:avLst/>
            <a:gdLst/>
            <a:ahLst/>
            <a:cxnLst/>
            <a:rect r="r" b="b" t="t" l="l"/>
            <a:pathLst>
              <a:path h="2657190" w="8110463">
                <a:moveTo>
                  <a:pt x="0" y="0"/>
                </a:moveTo>
                <a:lnTo>
                  <a:pt x="8110463" y="0"/>
                </a:lnTo>
                <a:lnTo>
                  <a:pt x="8110463" y="2657190"/>
                </a:lnTo>
                <a:lnTo>
                  <a:pt x="0" y="265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21" t="0" r="-121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6110" y="4985257"/>
            <a:ext cx="8110463" cy="2657190"/>
          </a:xfrm>
          <a:custGeom>
            <a:avLst/>
            <a:gdLst/>
            <a:ahLst/>
            <a:cxnLst/>
            <a:rect r="r" b="b" t="t" l="l"/>
            <a:pathLst>
              <a:path h="2657190" w="8110463">
                <a:moveTo>
                  <a:pt x="0" y="0"/>
                </a:moveTo>
                <a:lnTo>
                  <a:pt x="8110464" y="0"/>
                </a:lnTo>
                <a:lnTo>
                  <a:pt x="8110464" y="2657190"/>
                </a:lnTo>
                <a:lnTo>
                  <a:pt x="0" y="265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21" t="0" r="-1212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185192"/>
            <a:ext cx="8110463" cy="2657190"/>
          </a:xfrm>
          <a:custGeom>
            <a:avLst/>
            <a:gdLst/>
            <a:ahLst/>
            <a:cxnLst/>
            <a:rect r="r" b="b" t="t" l="l"/>
            <a:pathLst>
              <a:path h="2657190" w="8110463">
                <a:moveTo>
                  <a:pt x="0" y="0"/>
                </a:moveTo>
                <a:lnTo>
                  <a:pt x="8110463" y="0"/>
                </a:lnTo>
                <a:lnTo>
                  <a:pt x="8110463" y="2657190"/>
                </a:lnTo>
                <a:lnTo>
                  <a:pt x="0" y="265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21" t="0" r="-1212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84216" y="2185192"/>
            <a:ext cx="8110463" cy="2657190"/>
          </a:xfrm>
          <a:custGeom>
            <a:avLst/>
            <a:gdLst/>
            <a:ahLst/>
            <a:cxnLst/>
            <a:rect r="r" b="b" t="t" l="l"/>
            <a:pathLst>
              <a:path h="2657190" w="8110463">
                <a:moveTo>
                  <a:pt x="0" y="0"/>
                </a:moveTo>
                <a:lnTo>
                  <a:pt x="8110463" y="0"/>
                </a:lnTo>
                <a:lnTo>
                  <a:pt x="8110463" y="2657190"/>
                </a:lnTo>
                <a:lnTo>
                  <a:pt x="0" y="265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21" t="0" r="-1212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775797"/>
            <a:ext cx="3613097" cy="1472978"/>
          </a:xfrm>
          <a:custGeom>
            <a:avLst/>
            <a:gdLst/>
            <a:ahLst/>
            <a:cxnLst/>
            <a:rect r="r" b="b" t="t" l="l"/>
            <a:pathLst>
              <a:path h="1472978" w="3613097">
                <a:moveTo>
                  <a:pt x="0" y="0"/>
                </a:moveTo>
                <a:lnTo>
                  <a:pt x="3613097" y="0"/>
                </a:lnTo>
                <a:lnTo>
                  <a:pt x="3613097" y="1472978"/>
                </a:lnTo>
                <a:lnTo>
                  <a:pt x="0" y="147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826" t="-28354" r="-41748" b="-29844"/>
            </a:stretch>
          </a:blipFill>
          <a:ln w="95250" cap="rnd">
            <a:solidFill>
              <a:srgbClr val="6B7280"/>
            </a:soli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231342" y="7785322"/>
            <a:ext cx="3613097" cy="1472978"/>
          </a:xfrm>
          <a:custGeom>
            <a:avLst/>
            <a:gdLst/>
            <a:ahLst/>
            <a:cxnLst/>
            <a:rect r="r" b="b" t="t" l="l"/>
            <a:pathLst>
              <a:path h="1472978" w="3613097">
                <a:moveTo>
                  <a:pt x="0" y="0"/>
                </a:moveTo>
                <a:lnTo>
                  <a:pt x="3613097" y="0"/>
                </a:lnTo>
                <a:lnTo>
                  <a:pt x="3613097" y="1472978"/>
                </a:lnTo>
                <a:lnTo>
                  <a:pt x="0" y="147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826" t="-28354" r="-41748" b="-29844"/>
            </a:stretch>
          </a:blipFill>
          <a:ln w="95250" cap="rnd">
            <a:solidFill>
              <a:srgbClr val="6B7280"/>
            </a:soli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433984" y="7794847"/>
            <a:ext cx="3613097" cy="1472978"/>
          </a:xfrm>
          <a:custGeom>
            <a:avLst/>
            <a:gdLst/>
            <a:ahLst/>
            <a:cxnLst/>
            <a:rect r="r" b="b" t="t" l="l"/>
            <a:pathLst>
              <a:path h="1472978" w="3613097">
                <a:moveTo>
                  <a:pt x="0" y="0"/>
                </a:moveTo>
                <a:lnTo>
                  <a:pt x="3613097" y="0"/>
                </a:lnTo>
                <a:lnTo>
                  <a:pt x="3613097" y="1472978"/>
                </a:lnTo>
                <a:lnTo>
                  <a:pt x="0" y="147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826" t="-28354" r="-41748" b="-29844"/>
            </a:stretch>
          </a:blipFill>
          <a:ln w="95250" cap="rnd">
            <a:solidFill>
              <a:srgbClr val="6B7280"/>
            </a:solidFill>
            <a:prstDash val="solid"/>
            <a:round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636625" y="7804372"/>
            <a:ext cx="3613097" cy="1472978"/>
          </a:xfrm>
          <a:custGeom>
            <a:avLst/>
            <a:gdLst/>
            <a:ahLst/>
            <a:cxnLst/>
            <a:rect r="r" b="b" t="t" l="l"/>
            <a:pathLst>
              <a:path h="1472978" w="3613097">
                <a:moveTo>
                  <a:pt x="0" y="0"/>
                </a:moveTo>
                <a:lnTo>
                  <a:pt x="3613098" y="0"/>
                </a:lnTo>
                <a:lnTo>
                  <a:pt x="3613098" y="1472978"/>
                </a:lnTo>
                <a:lnTo>
                  <a:pt x="0" y="147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826" t="-28354" r="-41748" b="-29844"/>
            </a:stretch>
          </a:blipFill>
          <a:ln w="95250" cap="rnd">
            <a:solidFill>
              <a:srgbClr val="6B7280"/>
            </a:solidFill>
            <a:prstDash val="solid"/>
            <a:round/>
          </a:ln>
        </p:spPr>
      </p:sp>
      <p:grpSp>
        <p:nvGrpSpPr>
          <p:cNvPr name="Group 10" id="10"/>
          <p:cNvGrpSpPr/>
          <p:nvPr/>
        </p:nvGrpSpPr>
        <p:grpSpPr>
          <a:xfrm rot="5400000">
            <a:off x="4599687" y="8181455"/>
            <a:ext cx="673765" cy="589545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0B0C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933450"/>
            <a:ext cx="5199135" cy="77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35"/>
              </a:lnSpc>
              <a:spcBef>
                <a:spcPct val="0"/>
              </a:spcBef>
            </a:pPr>
            <a:r>
              <a:rPr lang="en-US" b="true" sz="4454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698826" y="5343528"/>
            <a:ext cx="8110463" cy="58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3"/>
              </a:lnSpc>
              <a:spcBef>
                <a:spcPct val="0"/>
              </a:spcBef>
            </a:pPr>
            <a:r>
              <a:rPr lang="en-US" b="true" sz="3366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9182" y="5991437"/>
            <a:ext cx="7069327" cy="8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  <a:spcBef>
                <a:spcPct val="0"/>
              </a:spcBef>
            </a:pPr>
            <a:r>
              <a:rPr lang="en-US" sz="2363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FastAPI Python server with OpenCV handling image processing and inference.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1218" y="3199079"/>
            <a:ext cx="6221158" cy="82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  <a:spcBef>
                <a:spcPct val="0"/>
              </a:spcBef>
            </a:pPr>
            <a:r>
              <a:rPr lang="en-US" sz="2363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React Native mobile app with live camera capture for real-time scanning.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1218" y="2546378"/>
            <a:ext cx="1714448" cy="58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  <a:spcBef>
                <a:spcPct val="0"/>
              </a:spcBef>
            </a:pPr>
            <a:r>
              <a:rPr lang="en-US" b="true" sz="336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61541" y="2546378"/>
            <a:ext cx="8110463" cy="58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3"/>
              </a:lnSpc>
              <a:spcBef>
                <a:spcPct val="0"/>
              </a:spcBef>
            </a:pPr>
            <a:r>
              <a:rPr lang="en-US" b="true" sz="3366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AI Model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15975" y="3199079"/>
            <a:ext cx="6282926" cy="8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  <a:spcBef>
                <a:spcPct val="0"/>
              </a:spcBef>
            </a:pPr>
            <a:r>
              <a:rPr lang="en-US" sz="2363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Haar Cascade for face detection + LBPH algorithm for face recognition.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1582" y="5991437"/>
            <a:ext cx="7515732" cy="8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  <a:spcBef>
                <a:spcPct val="0"/>
              </a:spcBef>
            </a:pPr>
            <a:r>
              <a:rPr lang="en-US" sz="2363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SQLite for secure, local storage of attendance records and student models.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1582" y="5269488"/>
            <a:ext cx="1801596" cy="117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3"/>
              </a:lnSpc>
              <a:spcBef>
                <a:spcPct val="0"/>
              </a:spcBef>
            </a:pPr>
            <a:r>
              <a:rPr lang="en-US" b="true" sz="3366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Database</a:t>
            </a:r>
          </a:p>
          <a:p>
            <a:pPr algn="ctr" marL="0" indent="0" lvl="0">
              <a:lnSpc>
                <a:spcPts val="4713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209898"/>
            <a:ext cx="3613097" cy="46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b="true" sz="265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React Native App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31342" y="8209898"/>
            <a:ext cx="3613097" cy="46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5"/>
              </a:lnSpc>
              <a:spcBef>
                <a:spcPct val="0"/>
              </a:spcBef>
            </a:pPr>
            <a:r>
              <a:rPr lang="en-US" b="true" sz="2654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FastAPI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58286" y="8209898"/>
            <a:ext cx="3613097" cy="46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5"/>
              </a:lnSpc>
              <a:spcBef>
                <a:spcPct val="0"/>
              </a:spcBef>
            </a:pPr>
            <a:r>
              <a:rPr lang="en-US" b="true" sz="2654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OpenCV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36625" y="8274531"/>
            <a:ext cx="3613097" cy="46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5"/>
              </a:lnSpc>
              <a:spcBef>
                <a:spcPct val="0"/>
              </a:spcBef>
            </a:pPr>
            <a:r>
              <a:rPr lang="en-US" b="true" sz="2654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SQLite</a:t>
            </a:r>
          </a:p>
        </p:txBody>
      </p:sp>
      <p:grpSp>
        <p:nvGrpSpPr>
          <p:cNvPr name="Group 26" id="26"/>
          <p:cNvGrpSpPr/>
          <p:nvPr/>
        </p:nvGrpSpPr>
        <p:grpSpPr>
          <a:xfrm rot="5400000">
            <a:off x="8802329" y="8181455"/>
            <a:ext cx="673765" cy="589545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0B0C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13004970" y="8181455"/>
            <a:ext cx="673765" cy="589545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0B0C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48710"/>
            <a:ext cx="16230600" cy="7009590"/>
          </a:xfrm>
          <a:custGeom>
            <a:avLst/>
            <a:gdLst/>
            <a:ahLst/>
            <a:cxnLst/>
            <a:rect r="r" b="b" t="t" l="l"/>
            <a:pathLst>
              <a:path h="7009590" w="16230600">
                <a:moveTo>
                  <a:pt x="0" y="0"/>
                </a:moveTo>
                <a:lnTo>
                  <a:pt x="16230600" y="0"/>
                </a:lnTo>
                <a:lnTo>
                  <a:pt x="16230600" y="7009590"/>
                </a:lnTo>
                <a:lnTo>
                  <a:pt x="0" y="7009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2346" y="926135"/>
            <a:ext cx="10025821" cy="77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35"/>
              </a:lnSpc>
              <a:spcBef>
                <a:spcPct val="0"/>
              </a:spcBef>
            </a:pPr>
            <a:r>
              <a:rPr lang="en-US" b="true" sz="4454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How It Works: The Recognition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86354" y="6318418"/>
            <a:ext cx="2422627" cy="90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Capture Frame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86354" y="7354995"/>
            <a:ext cx="2422627" cy="95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Camera grabs student face in real-time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3737" y="3396282"/>
            <a:ext cx="2422627" cy="63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Teacher starts live on-device scan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35300" y="2807813"/>
            <a:ext cx="2422627" cy="90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Detect &amp; Extract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5300" y="3718879"/>
            <a:ext cx="2422627" cy="95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Haar Cascade finds face; LBPH extracts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3737" y="2646512"/>
            <a:ext cx="2422627" cy="46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Initiate Scan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28166" y="6318418"/>
            <a:ext cx="2422627" cy="46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Compare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07036" y="7363231"/>
            <a:ext cx="2422627" cy="950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Features matched to models with 85% threshold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17231" y="2807813"/>
            <a:ext cx="2422627" cy="46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Log Result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17231" y="3404533"/>
            <a:ext cx="2422627" cy="126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Match logs attendance with timestamp. else Unknown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1319213"/>
            <a:ext cx="171450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100% Offline Capability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2252663"/>
            <a:ext cx="11572875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Pipeline runs entirely on a local network. Zero internet connection required during active scanning sessions.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399009" y="3565917"/>
            <a:ext cx="5226854" cy="2417420"/>
            <a:chOff x="0" y="0"/>
            <a:chExt cx="6096000" cy="281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960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096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5791200" y="0"/>
                  </a:lnTo>
                  <a:cubicBezTo>
                    <a:pt x="5959475" y="0"/>
                    <a:pt x="6096000" y="136398"/>
                    <a:pt x="6096000" y="304800"/>
                  </a:cubicBezTo>
                  <a:lnTo>
                    <a:pt x="6096000" y="2514600"/>
                  </a:lnTo>
                  <a:cubicBezTo>
                    <a:pt x="6096000" y="2682875"/>
                    <a:pt x="5959602" y="2819400"/>
                    <a:pt x="5791200" y="2819400"/>
                  </a:cubicBezTo>
                  <a:lnTo>
                    <a:pt x="304800" y="2819400"/>
                  </a:lnTo>
                  <a:cubicBezTo>
                    <a:pt x="136525" y="2819400"/>
                    <a:pt x="0" y="2683002"/>
                    <a:pt x="0" y="25146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17878" y="3565917"/>
            <a:ext cx="5226854" cy="2417420"/>
            <a:chOff x="0" y="0"/>
            <a:chExt cx="6096000" cy="281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60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096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5791200" y="0"/>
                  </a:lnTo>
                  <a:cubicBezTo>
                    <a:pt x="5959475" y="0"/>
                    <a:pt x="6096000" y="136398"/>
                    <a:pt x="6096000" y="304800"/>
                  </a:cubicBezTo>
                  <a:lnTo>
                    <a:pt x="6096000" y="2514600"/>
                  </a:lnTo>
                  <a:cubicBezTo>
                    <a:pt x="6096000" y="2682875"/>
                    <a:pt x="5959602" y="2819400"/>
                    <a:pt x="5791200" y="2819400"/>
                  </a:cubicBezTo>
                  <a:lnTo>
                    <a:pt x="304800" y="2819400"/>
                  </a:lnTo>
                  <a:cubicBezTo>
                    <a:pt x="136525" y="2819400"/>
                    <a:pt x="0" y="2683002"/>
                    <a:pt x="0" y="25146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99009" y="6375351"/>
            <a:ext cx="5226854" cy="2417420"/>
            <a:chOff x="0" y="0"/>
            <a:chExt cx="6096000" cy="2819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096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5791200" y="0"/>
                  </a:lnTo>
                  <a:cubicBezTo>
                    <a:pt x="5959475" y="0"/>
                    <a:pt x="6096000" y="136398"/>
                    <a:pt x="6096000" y="304800"/>
                  </a:cubicBezTo>
                  <a:lnTo>
                    <a:pt x="6096000" y="2514600"/>
                  </a:lnTo>
                  <a:cubicBezTo>
                    <a:pt x="6096000" y="2682875"/>
                    <a:pt x="5959602" y="2819400"/>
                    <a:pt x="5791200" y="2819400"/>
                  </a:cubicBezTo>
                  <a:lnTo>
                    <a:pt x="304800" y="2819400"/>
                  </a:lnTo>
                  <a:cubicBezTo>
                    <a:pt x="136525" y="2819400"/>
                    <a:pt x="0" y="2683002"/>
                    <a:pt x="0" y="25146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17878" y="6375351"/>
            <a:ext cx="5226854" cy="2417420"/>
            <a:chOff x="0" y="0"/>
            <a:chExt cx="6096000" cy="2819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096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5791200" y="0"/>
                  </a:lnTo>
                  <a:cubicBezTo>
                    <a:pt x="5959475" y="0"/>
                    <a:pt x="6096000" y="136398"/>
                    <a:pt x="6096000" y="304800"/>
                  </a:cubicBezTo>
                  <a:lnTo>
                    <a:pt x="6096000" y="2514600"/>
                  </a:lnTo>
                  <a:cubicBezTo>
                    <a:pt x="6096000" y="2682875"/>
                    <a:pt x="5959602" y="2819400"/>
                    <a:pt x="5791200" y="2819400"/>
                  </a:cubicBezTo>
                  <a:lnTo>
                    <a:pt x="304800" y="2819400"/>
                  </a:lnTo>
                  <a:cubicBezTo>
                    <a:pt x="136525" y="2819400"/>
                    <a:pt x="0" y="2683002"/>
                    <a:pt x="0" y="25146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921695" y="4088602"/>
            <a:ext cx="5488197" cy="39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572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Ultra-Low Latency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1695" y="4609948"/>
            <a:ext cx="4344823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Instant processing without cloud round-trips.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40563" y="4088602"/>
            <a:ext cx="5488197" cy="39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572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Maximum Privacy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40563" y="4609948"/>
            <a:ext cx="4344823" cy="850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Biometrics stay on the local network.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21695" y="6898036"/>
            <a:ext cx="5488197" cy="39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572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No Dead Zones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21695" y="7419382"/>
            <a:ext cx="4344823" cy="850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Flawless operation in reception dead zones.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40563" y="6898036"/>
            <a:ext cx="5488197" cy="39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572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Cost Effective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40563" y="7419382"/>
            <a:ext cx="4344823" cy="850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Zero ongoing cloud API hosting fees.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000" y="3575442"/>
            <a:ext cx="5562334" cy="49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328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Required Hardware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2095" y="7430896"/>
            <a:ext cx="3744615" cy="43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773" b="tru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Teacher's Phone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5036467"/>
            <a:ext cx="874270" cy="874270"/>
            <a:chOff x="0" y="0"/>
            <a:chExt cx="1165693" cy="116569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165693" cy="1165693"/>
              <a:chOff x="0" y="0"/>
              <a:chExt cx="1066800" cy="1066800"/>
            </a:xfrm>
          </p:grpSpPr>
          <p:sp>
            <p:nvSpPr>
              <p:cNvPr name="Freeform 24" id="24" descr="image.png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0" y="0"/>
                    </a:moveTo>
                    <a:lnTo>
                      <a:pt x="1066800" y="0"/>
                    </a:lnTo>
                    <a:lnTo>
                      <a:pt x="1066800" y="1066800"/>
                    </a:lnTo>
                    <a:lnTo>
                      <a:pt x="0" y="1066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22647" y="374687"/>
              <a:ext cx="520399" cy="416319"/>
              <a:chOff x="0" y="0"/>
              <a:chExt cx="476250" cy="381000"/>
            </a:xfrm>
          </p:grpSpPr>
          <p:sp>
            <p:nvSpPr>
              <p:cNvPr name="Freeform 26" id="26" descr="image.png"/>
              <p:cNvSpPr/>
              <p:nvPr/>
            </p:nvSpPr>
            <p:spPr>
              <a:xfrm flipH="false" flipV="false" rot="0">
                <a:off x="0" y="0"/>
                <a:ext cx="47625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476250">
                    <a:moveTo>
                      <a:pt x="0" y="0"/>
                    </a:moveTo>
                    <a:lnTo>
                      <a:pt x="476250" y="0"/>
                    </a:lnTo>
                    <a:lnTo>
                      <a:pt x="47625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00" t="0" r="-2000" b="0"/>
                </a:stretch>
              </a:blip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1143000" y="7158639"/>
            <a:ext cx="986238" cy="986238"/>
            <a:chOff x="0" y="0"/>
            <a:chExt cx="1314983" cy="131498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314983" cy="1314983"/>
              <a:chOff x="0" y="0"/>
              <a:chExt cx="1066800" cy="1066800"/>
            </a:xfrm>
          </p:grpSpPr>
          <p:sp>
            <p:nvSpPr>
              <p:cNvPr name="Freeform 29" id="29" descr="image.png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0" y="0"/>
                    </a:moveTo>
                    <a:lnTo>
                      <a:pt x="1066800" y="0"/>
                    </a:lnTo>
                    <a:lnTo>
                      <a:pt x="1066800" y="1066800"/>
                    </a:lnTo>
                    <a:lnTo>
                      <a:pt x="0" y="1066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46155" y="375710"/>
              <a:ext cx="422673" cy="563564"/>
              <a:chOff x="0" y="0"/>
              <a:chExt cx="342900" cy="457200"/>
            </a:xfrm>
          </p:grpSpPr>
          <p:sp>
            <p:nvSpPr>
              <p:cNvPr name="Freeform 31" id="31" descr="image.png"/>
              <p:cNvSpPr/>
              <p:nvPr/>
            </p:nvSpPr>
            <p:spPr>
              <a:xfrm flipH="false" flipV="false" rot="0">
                <a:off x="0" y="0"/>
                <a:ext cx="3429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342900">
                    <a:moveTo>
                      <a:pt x="0" y="0"/>
                    </a:moveTo>
                    <a:lnTo>
                      <a:pt x="342900" y="0"/>
                    </a:lnTo>
                    <a:lnTo>
                      <a:pt x="3429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</p:grpSp>
      <p:sp>
        <p:nvSpPr>
          <p:cNvPr name="TextBox 32" id="32"/>
          <p:cNvSpPr txBox="true"/>
          <p:nvPr/>
        </p:nvSpPr>
        <p:spPr>
          <a:xfrm rot="0">
            <a:off x="2192095" y="5026942"/>
            <a:ext cx="4206914" cy="43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773" b="true">
                <a:solidFill>
                  <a:srgbClr val="1F2937"/>
                </a:solidFill>
                <a:latin typeface="Inter Bold"/>
                <a:ea typeface="Inter Bold"/>
                <a:cs typeface="Inter Bold"/>
                <a:sym typeface="Inter Bold"/>
              </a:rPr>
              <a:t>Standard Router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92095" y="5520061"/>
            <a:ext cx="4006590" cy="30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9"/>
              </a:lnSpc>
            </a:pPr>
            <a:r>
              <a:rPr lang="en-US" sz="194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Wi-Fi or Ethernet supported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53315"/>
            <a:ext cx="7860497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Each algorithmic choice was made deliberately to optimize performance within real classroom constraints.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991" y="1065857"/>
            <a:ext cx="744281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4950" strike="noStrike" u="non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Key Technical Decisions</a:t>
            </a:r>
          </a:p>
        </p:txBody>
      </p:sp>
      <p:sp>
        <p:nvSpPr>
          <p:cNvPr name="Freeform 4" id="4" descr="preencoded.png"/>
          <p:cNvSpPr/>
          <p:nvPr/>
        </p:nvSpPr>
        <p:spPr>
          <a:xfrm flipH="false" flipV="false" rot="0">
            <a:off x="9457887" y="1101595"/>
            <a:ext cx="7860497" cy="2557672"/>
          </a:xfrm>
          <a:custGeom>
            <a:avLst/>
            <a:gdLst/>
            <a:ahLst/>
            <a:cxnLst/>
            <a:rect r="r" b="b" t="t" l="l"/>
            <a:pathLst>
              <a:path h="2557672" w="7860497">
                <a:moveTo>
                  <a:pt x="0" y="0"/>
                </a:moveTo>
                <a:lnTo>
                  <a:pt x="7860497" y="0"/>
                </a:lnTo>
                <a:lnTo>
                  <a:pt x="7860497" y="2557672"/>
                </a:lnTo>
                <a:lnTo>
                  <a:pt x="0" y="255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29" r="0" b="-229"/>
            </a:stretch>
          </a:blipFill>
        </p:spPr>
      </p:sp>
      <p:sp>
        <p:nvSpPr>
          <p:cNvPr name="Freeform 5" id="5" descr="preencoded.png"/>
          <p:cNvSpPr/>
          <p:nvPr/>
        </p:nvSpPr>
        <p:spPr>
          <a:xfrm flipH="false" flipV="false" rot="0">
            <a:off x="13205241" y="1308325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6"/>
                </a:lnTo>
                <a:lnTo>
                  <a:pt x="0" y="36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84" t="0" r="-128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30302" y="1980124"/>
            <a:ext cx="3683902" cy="51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Grayscale Conversion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0302" y="2594810"/>
            <a:ext cx="7315676" cy="8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  <a:spcBef>
                <a:spcPct val="0"/>
              </a:spcBef>
            </a:pPr>
            <a:r>
              <a:rPr lang="en-US" sz="2363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Reduces computational complexity while fully preserving discriminative facial patterns.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457887" y="3868684"/>
            <a:ext cx="7860497" cy="2557672"/>
          </a:xfrm>
          <a:custGeom>
            <a:avLst/>
            <a:gdLst/>
            <a:ahLst/>
            <a:cxnLst/>
            <a:rect r="r" b="b" t="t" l="l"/>
            <a:pathLst>
              <a:path h="2557672" w="7860497">
                <a:moveTo>
                  <a:pt x="0" y="0"/>
                </a:moveTo>
                <a:lnTo>
                  <a:pt x="7860497" y="0"/>
                </a:lnTo>
                <a:lnTo>
                  <a:pt x="7860497" y="2557672"/>
                </a:lnTo>
                <a:lnTo>
                  <a:pt x="0" y="255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29" r="0" b="-229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13205241" y="4075414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5"/>
                </a:lnTo>
                <a:lnTo>
                  <a:pt x="0" y="365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730302" y="4771492"/>
            <a:ext cx="2730753" cy="51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LBPH Algorithm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0302" y="5361908"/>
            <a:ext cx="7315676" cy="8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  <a:spcBef>
                <a:spcPct val="0"/>
              </a:spcBef>
            </a:pPr>
            <a:r>
              <a:rPr lang="en-US" sz="2363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Lightweight and robust to lighting variations ideal for variable classroom environments.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457887" y="6635772"/>
            <a:ext cx="7860497" cy="2557672"/>
          </a:xfrm>
          <a:custGeom>
            <a:avLst/>
            <a:gdLst/>
            <a:ahLst/>
            <a:cxnLst/>
            <a:rect r="r" b="b" t="t" l="l"/>
            <a:pathLst>
              <a:path h="2557672" w="7860497">
                <a:moveTo>
                  <a:pt x="0" y="0"/>
                </a:moveTo>
                <a:lnTo>
                  <a:pt x="7860497" y="0"/>
                </a:lnTo>
                <a:lnTo>
                  <a:pt x="7860497" y="2557672"/>
                </a:lnTo>
                <a:lnTo>
                  <a:pt x="0" y="255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29" r="0" b="-229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13205241" y="6842512"/>
            <a:ext cx="365646" cy="365655"/>
          </a:xfrm>
          <a:custGeom>
            <a:avLst/>
            <a:gdLst/>
            <a:ahLst/>
            <a:cxnLst/>
            <a:rect r="r" b="b" t="t" l="l"/>
            <a:pathLst>
              <a:path h="365655" w="365646">
                <a:moveTo>
                  <a:pt x="0" y="0"/>
                </a:moveTo>
                <a:lnTo>
                  <a:pt x="365646" y="0"/>
                </a:lnTo>
                <a:lnTo>
                  <a:pt x="365646" y="365656"/>
                </a:lnTo>
                <a:lnTo>
                  <a:pt x="0" y="365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563" r="0" b="-256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730302" y="7538580"/>
            <a:ext cx="4359311" cy="51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Confidence Threshold: 85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0302" y="8128997"/>
            <a:ext cx="7315676" cy="8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  <a:spcBef>
                <a:spcPct val="0"/>
              </a:spcBef>
            </a:pPr>
            <a:r>
              <a:rPr lang="en-US" sz="2363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Carefully tuned to balance recognition accuracy against false-positive prevention.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2541080"/>
            <a:ext cx="4667088" cy="4667088"/>
            <a:chOff x="0" y="0"/>
            <a:chExt cx="6222784" cy="6222784"/>
          </a:xfrm>
        </p:grpSpPr>
        <p:sp>
          <p:nvSpPr>
            <p:cNvPr name="Freeform 17" id="17" descr="image19.png"/>
            <p:cNvSpPr/>
            <p:nvPr/>
          </p:nvSpPr>
          <p:spPr>
            <a:xfrm flipH="false" flipV="false" rot="0">
              <a:off x="0" y="0"/>
              <a:ext cx="6222746" cy="6222746"/>
            </a:xfrm>
            <a:custGeom>
              <a:avLst/>
              <a:gdLst/>
              <a:ahLst/>
              <a:cxnLst/>
              <a:rect r="r" b="b" t="t" l="l"/>
              <a:pathLst>
                <a:path h="6222746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6222746"/>
                  </a:lnTo>
                  <a:lnTo>
                    <a:pt x="0" y="6222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3414712"/>
            <a:ext cx="9001125" cy="457258"/>
            <a:chOff x="0" y="0"/>
            <a:chExt cx="12001500" cy="609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1500" cy="609677"/>
            </a:xfrm>
            <a:custGeom>
              <a:avLst/>
              <a:gdLst/>
              <a:ahLst/>
              <a:cxnLst/>
              <a:rect r="r" b="b" t="t" l="l"/>
              <a:pathLst>
                <a:path h="609677" w="12001500">
                  <a:moveTo>
                    <a:pt x="0" y="0"/>
                  </a:moveTo>
                  <a:lnTo>
                    <a:pt x="12001500" y="0"/>
                  </a:lnTo>
                  <a:lnTo>
                    <a:pt x="12001500" y="609677"/>
                  </a:lnTo>
                  <a:lnTo>
                    <a:pt x="0" y="6096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755" r="0" b="-3163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2001500" cy="676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308"/>
                </a:lnSpc>
                <a:spcBef>
                  <a:spcPct val="0"/>
                </a:spcBef>
              </a:pPr>
              <a:r>
                <a:rPr lang="en-US" sz="2363" strike="noStrike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Login      View status      Scan    Log result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22640" y="3464719"/>
            <a:ext cx="263348" cy="307239"/>
            <a:chOff x="0" y="0"/>
            <a:chExt cx="228600" cy="2667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571" r="0" b="-357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9740" y="4643438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28775" y="6134100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28775" y="7935595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5427" y="4643438"/>
            <a:ext cx="1114425" cy="685800"/>
            <a:chOff x="0" y="0"/>
            <a:chExt cx="14859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5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859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563E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4462" y="6134100"/>
            <a:ext cx="1114425" cy="685800"/>
            <a:chOff x="0" y="0"/>
            <a:chExt cx="14859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85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4859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563E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4462" y="7935595"/>
            <a:ext cx="1114425" cy="685800"/>
            <a:chOff x="0" y="0"/>
            <a:chExt cx="14859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59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859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563E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04002" y="3489722"/>
            <a:ext cx="263348" cy="307239"/>
            <a:chOff x="0" y="0"/>
            <a:chExt cx="228600" cy="2667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571" r="0" b="-357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92610" y="3489722"/>
            <a:ext cx="263348" cy="307239"/>
            <a:chOff x="0" y="0"/>
            <a:chExt cx="228600" cy="2667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571" r="0" b="-357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472488" y="1704975"/>
            <a:ext cx="8786813" cy="6556536"/>
            <a:chOff x="0" y="0"/>
            <a:chExt cx="11715750" cy="87420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7856797" y="28283"/>
              <a:ext cx="3858953" cy="8713765"/>
            </a:xfrm>
            <a:custGeom>
              <a:avLst/>
              <a:gdLst/>
              <a:ahLst/>
              <a:cxnLst/>
              <a:rect r="r" b="b" t="t" l="l"/>
              <a:pathLst>
                <a:path h="8713765" w="3858953">
                  <a:moveTo>
                    <a:pt x="0" y="0"/>
                  </a:moveTo>
                  <a:lnTo>
                    <a:pt x="3858953" y="0"/>
                  </a:lnTo>
                  <a:lnTo>
                    <a:pt x="3858953" y="8713765"/>
                  </a:lnTo>
                  <a:lnTo>
                    <a:pt x="0" y="8713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38100" cap="sq">
              <a:solidFill>
                <a:srgbClr val="A0B0CA"/>
              </a:solidFill>
              <a:prstDash val="solid"/>
              <a:miter/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898483" y="17816"/>
              <a:ext cx="3958314" cy="8675410"/>
            </a:xfrm>
            <a:custGeom>
              <a:avLst/>
              <a:gdLst/>
              <a:ahLst/>
              <a:cxnLst/>
              <a:rect r="r" b="b" t="t" l="l"/>
              <a:pathLst>
                <a:path h="8675410" w="3958314">
                  <a:moveTo>
                    <a:pt x="0" y="0"/>
                  </a:moveTo>
                  <a:lnTo>
                    <a:pt x="3958314" y="0"/>
                  </a:lnTo>
                  <a:lnTo>
                    <a:pt x="3958314" y="8675410"/>
                  </a:lnTo>
                  <a:lnTo>
                    <a:pt x="0" y="8675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38100" cap="sq">
              <a:solidFill>
                <a:srgbClr val="A0B0CA"/>
              </a:solidFill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50804" cy="8711041"/>
            </a:xfrm>
            <a:custGeom>
              <a:avLst/>
              <a:gdLst/>
              <a:ahLst/>
              <a:cxnLst/>
              <a:rect r="r" b="b" t="t" l="l"/>
              <a:pathLst>
                <a:path h="8711041" w="3850804">
                  <a:moveTo>
                    <a:pt x="0" y="0"/>
                  </a:moveTo>
                  <a:lnTo>
                    <a:pt x="3850804" y="0"/>
                  </a:lnTo>
                  <a:lnTo>
                    <a:pt x="3850804" y="8711041"/>
                  </a:lnTo>
                  <a:lnTo>
                    <a:pt x="0" y="8711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38100" cap="sq">
              <a:solidFill>
                <a:srgbClr val="A0B0CA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143000" y="914400"/>
            <a:ext cx="181992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USER EXPERIENCE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1319213"/>
            <a:ext cx="60487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4950" strike="noStrike" u="non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Three Core Screens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2163128"/>
            <a:ext cx="5024005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EDUCATOR-CENTRIC WORKFLOW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28888" y="4643438"/>
            <a:ext cx="86558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Login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28888" y="5024437"/>
            <a:ext cx="56007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Admin authentication with dynamic network IP configuration.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28888" y="6286500"/>
            <a:ext cx="171060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9"/>
              </a:lnSpc>
              <a:spcBef>
                <a:spcPct val="0"/>
              </a:spcBef>
            </a:pPr>
            <a:r>
              <a:rPr lang="en-US" b="true" sz="2549" strike="noStrike" u="non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Dashboard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28888" y="6667500"/>
            <a:ext cx="56007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Attendance percentages, recent scans and class overview.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28888" y="7935595"/>
            <a:ext cx="130351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9"/>
              </a:lnSpc>
              <a:spcBef>
                <a:spcPct val="0"/>
              </a:spcBef>
            </a:pPr>
            <a:r>
              <a:rPr lang="en-US" b="true" sz="2549" strike="noStrike" u="non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Scanner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28888" y="8316595"/>
            <a:ext cx="621506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Live camera feed and one-tap biometric capture.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15500" y="2889424"/>
            <a:ext cx="7848807" cy="5879752"/>
          </a:xfrm>
          <a:custGeom>
            <a:avLst/>
            <a:gdLst/>
            <a:ahLst/>
            <a:cxnLst/>
            <a:rect r="r" b="b" t="t" l="l"/>
            <a:pathLst>
              <a:path h="5879752" w="7848807">
                <a:moveTo>
                  <a:pt x="0" y="0"/>
                </a:moveTo>
                <a:lnTo>
                  <a:pt x="7848807" y="0"/>
                </a:lnTo>
                <a:lnTo>
                  <a:pt x="7848807" y="5879752"/>
                </a:lnTo>
                <a:lnTo>
                  <a:pt x="0" y="5879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042" t="0" r="-9204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559" y="2889424"/>
            <a:ext cx="7848807" cy="5879752"/>
          </a:xfrm>
          <a:custGeom>
            <a:avLst/>
            <a:gdLst/>
            <a:ahLst/>
            <a:cxnLst/>
            <a:rect r="r" b="b" t="t" l="l"/>
            <a:pathLst>
              <a:path h="5879752" w="7848807">
                <a:moveTo>
                  <a:pt x="0" y="0"/>
                </a:moveTo>
                <a:lnTo>
                  <a:pt x="7848807" y="0"/>
                </a:lnTo>
                <a:lnTo>
                  <a:pt x="7848807" y="5879752"/>
                </a:lnTo>
                <a:lnTo>
                  <a:pt x="0" y="5879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042" t="0" r="-9204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84109" y="1727374"/>
            <a:ext cx="6343326" cy="77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35"/>
              </a:lnSpc>
              <a:spcBef>
                <a:spcPct val="0"/>
              </a:spcBef>
            </a:pPr>
            <a:r>
              <a:rPr lang="en-US" b="true" sz="4454" strike="noStrike" u="non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Challenges &amp; Limitations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43088" y="4371975"/>
            <a:ext cx="6257925" cy="28575"/>
            <a:chOff x="0" y="0"/>
            <a:chExt cx="83439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43900" cy="38100"/>
            </a:xfrm>
            <a:custGeom>
              <a:avLst/>
              <a:gdLst/>
              <a:ahLst/>
              <a:cxnLst/>
              <a:rect r="r" b="b" t="t" l="l"/>
              <a:pathLst>
                <a:path h="38100" w="8343900">
                  <a:moveTo>
                    <a:pt x="0" y="0"/>
                  </a:moveTo>
                  <a:lnTo>
                    <a:pt x="8343900" y="0"/>
                  </a:lnTo>
                  <a:lnTo>
                    <a:pt x="8343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186988" y="4371975"/>
            <a:ext cx="6257925" cy="28575"/>
            <a:chOff x="0" y="0"/>
            <a:chExt cx="83439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43900" cy="38100"/>
            </a:xfrm>
            <a:custGeom>
              <a:avLst/>
              <a:gdLst/>
              <a:ahLst/>
              <a:cxnLst/>
              <a:rect r="r" b="b" t="t" l="l"/>
              <a:pathLst>
                <a:path h="38100" w="8343900">
                  <a:moveTo>
                    <a:pt x="0" y="0"/>
                  </a:moveTo>
                  <a:lnTo>
                    <a:pt x="8343900" y="0"/>
                  </a:lnTo>
                  <a:lnTo>
                    <a:pt x="8343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43088" y="3590925"/>
            <a:ext cx="326101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827"/>
                </a:solidFill>
                <a:latin typeface="Roboto Bold"/>
                <a:ea typeface="Roboto Bold"/>
                <a:cs typeface="Roboto Bold"/>
                <a:sym typeface="Roboto Bold"/>
              </a:rPr>
              <a:t>Technical Hurdles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6988" y="3590925"/>
            <a:ext cx="434653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11827"/>
                </a:solidFill>
                <a:latin typeface="Roboto Bold"/>
                <a:ea typeface="Roboto Bold"/>
                <a:cs typeface="Roboto Bold"/>
                <a:sym typeface="Roboto Bold"/>
              </a:rPr>
              <a:t>Ethical &amp; System Limits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86038" y="4895850"/>
            <a:ext cx="56578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11827"/>
                </a:solidFill>
                <a:latin typeface="Roboto Bold"/>
                <a:ea typeface="Roboto Bold"/>
                <a:cs typeface="Roboto Bold"/>
                <a:sym typeface="Roboto Bold"/>
              </a:rPr>
              <a:t>Network Restrictions:</a:t>
            </a:r>
            <a:r>
              <a:rPr lang="en-US" sz="22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Bypassing Android cleartext HTTP limitations.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86038" y="6210300"/>
            <a:ext cx="56578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11827"/>
                </a:solidFill>
                <a:latin typeface="Roboto Bold"/>
                <a:ea typeface="Roboto Bold"/>
                <a:cs typeface="Roboto Bold"/>
                <a:sym typeface="Roboto Bold"/>
              </a:rPr>
              <a:t>Data Parsing:</a:t>
            </a:r>
            <a:r>
              <a:rPr lang="en-US" sz="22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Rewriting logic to handle multipart/form-data bugs.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29950" y="4895850"/>
            <a:ext cx="555783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11827"/>
                </a:solidFill>
                <a:latin typeface="Roboto Bold"/>
                <a:ea typeface="Roboto Bold"/>
                <a:cs typeface="Roboto Bold"/>
                <a:sym typeface="Roboto Bold"/>
              </a:rPr>
              <a:t>Liveness Detection:</a:t>
            </a:r>
            <a:r>
              <a:rPr lang="en-US" sz="22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Highly vulnerable to 2D photograph spoofing.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29950" y="6210300"/>
            <a:ext cx="555783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11827"/>
                </a:solidFill>
                <a:latin typeface="Roboto Bold"/>
                <a:ea typeface="Roboto Bold"/>
                <a:cs typeface="Roboto Bold"/>
                <a:sym typeface="Roboto Bold"/>
              </a:rPr>
              <a:t>Data Privacy:</a:t>
            </a:r>
            <a:r>
              <a:rPr lang="en-US" sz="225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Securing sensitive student biometric records.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843088" y="5043488"/>
            <a:ext cx="400050" cy="400050"/>
            <a:chOff x="0" y="0"/>
            <a:chExt cx="533400" cy="5334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43088" y="6357938"/>
            <a:ext cx="400050" cy="400050"/>
            <a:chOff x="0" y="0"/>
            <a:chExt cx="533400" cy="5334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86988" y="5043488"/>
            <a:ext cx="500062" cy="400050"/>
            <a:chOff x="0" y="0"/>
            <a:chExt cx="666750" cy="5334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186988" y="6357938"/>
            <a:ext cx="500062" cy="400050"/>
            <a:chOff x="0" y="0"/>
            <a:chExt cx="666750" cy="5334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905125"/>
            <a:ext cx="7300912" cy="685800"/>
            <a:chOff x="0" y="0"/>
            <a:chExt cx="97345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34550" cy="914400"/>
            </a:xfrm>
            <a:custGeom>
              <a:avLst/>
              <a:gdLst/>
              <a:ahLst/>
              <a:cxnLst/>
              <a:rect r="r" b="b" t="t" l="l"/>
              <a:pathLst>
                <a:path h="914400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01138" y="2905125"/>
            <a:ext cx="7300912" cy="685800"/>
            <a:chOff x="0" y="0"/>
            <a:chExt cx="973455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34550" cy="914400"/>
            </a:xfrm>
            <a:custGeom>
              <a:avLst/>
              <a:gdLst/>
              <a:ahLst/>
              <a:cxnLst/>
              <a:rect r="r" b="b" t="t" l="l"/>
              <a:pathLst>
                <a:path h="914400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4737343"/>
            <a:ext cx="15373350" cy="4424649"/>
            <a:chOff x="0" y="0"/>
            <a:chExt cx="4048948" cy="1165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48948" cy="1165340"/>
            </a:xfrm>
            <a:custGeom>
              <a:avLst/>
              <a:gdLst/>
              <a:ahLst/>
              <a:cxnLst/>
              <a:rect r="r" b="b" t="t" l="l"/>
              <a:pathLst>
                <a:path h="1165340" w="4048948">
                  <a:moveTo>
                    <a:pt x="0" y="0"/>
                  </a:moveTo>
                  <a:lnTo>
                    <a:pt x="4048948" y="0"/>
                  </a:lnTo>
                  <a:lnTo>
                    <a:pt x="4048948" y="1165340"/>
                  </a:lnTo>
                  <a:lnTo>
                    <a:pt x="0" y="1165340"/>
                  </a:lnTo>
                  <a:close/>
                </a:path>
              </a:pathLst>
            </a:custGeom>
            <a:solidFill>
              <a:srgbClr val="E1E1E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048948" cy="117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286481" y="6135137"/>
            <a:ext cx="919757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Mobile ↔ backend communication and image transfer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6481" y="7298223"/>
            <a:ext cx="1046559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Camera permissions, IP configuration and dashboard metrics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69392" y="2905125"/>
            <a:ext cx="7300912" cy="685800"/>
            <a:chOff x="0" y="0"/>
            <a:chExt cx="973455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34550" cy="914400"/>
            </a:xfrm>
            <a:custGeom>
              <a:avLst/>
              <a:gdLst/>
              <a:ahLst/>
              <a:cxnLst/>
              <a:rect r="r" b="b" t="t" l="l"/>
              <a:pathLst>
                <a:path h="914400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026984" y="8466215"/>
            <a:ext cx="391319" cy="414337"/>
            <a:chOff x="0" y="0"/>
            <a:chExt cx="323850" cy="3429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323850" cy="342900"/>
            </a:xfrm>
            <a:custGeom>
              <a:avLst/>
              <a:gdLst/>
              <a:ahLst/>
              <a:cxnLst/>
              <a:rect r="r" b="b" t="t" l="l"/>
              <a:pathLst>
                <a:path h="3429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18302" y="8374691"/>
            <a:ext cx="1171575" cy="505862"/>
            <a:chOff x="0" y="0"/>
            <a:chExt cx="1562100" cy="6744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62100" cy="674482"/>
            </a:xfrm>
            <a:custGeom>
              <a:avLst/>
              <a:gdLst/>
              <a:ahLst/>
              <a:cxnLst/>
              <a:rect r="r" b="b" t="t" l="l"/>
              <a:pathLst>
                <a:path h="674482" w="1562100">
                  <a:moveTo>
                    <a:pt x="0" y="0"/>
                  </a:moveTo>
                  <a:lnTo>
                    <a:pt x="1562100" y="0"/>
                  </a:lnTo>
                  <a:lnTo>
                    <a:pt x="1562100" y="674482"/>
                  </a:lnTo>
                  <a:lnTo>
                    <a:pt x="0" y="674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1" r="0" b="252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562100" cy="68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16A3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PASS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26984" y="7274554"/>
            <a:ext cx="391319" cy="414337"/>
            <a:chOff x="0" y="0"/>
            <a:chExt cx="323850" cy="342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23850" cy="342900"/>
            </a:xfrm>
            <a:custGeom>
              <a:avLst/>
              <a:gdLst/>
              <a:ahLst/>
              <a:cxnLst/>
              <a:rect r="r" b="b" t="t" l="l"/>
              <a:pathLst>
                <a:path h="3429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18302" y="7183030"/>
            <a:ext cx="1171575" cy="505862"/>
            <a:chOff x="0" y="0"/>
            <a:chExt cx="1562100" cy="6744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62100" cy="674482"/>
            </a:xfrm>
            <a:custGeom>
              <a:avLst/>
              <a:gdLst/>
              <a:ahLst/>
              <a:cxnLst/>
              <a:rect r="r" b="b" t="t" l="l"/>
              <a:pathLst>
                <a:path h="674482" w="1562100">
                  <a:moveTo>
                    <a:pt x="0" y="0"/>
                  </a:moveTo>
                  <a:lnTo>
                    <a:pt x="1562100" y="0"/>
                  </a:lnTo>
                  <a:lnTo>
                    <a:pt x="1562100" y="674482"/>
                  </a:lnTo>
                  <a:lnTo>
                    <a:pt x="0" y="674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1" r="0" b="252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62100" cy="68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16A3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026984" y="6111467"/>
            <a:ext cx="391319" cy="414337"/>
            <a:chOff x="0" y="0"/>
            <a:chExt cx="323850" cy="3429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23850" cy="342900"/>
            </a:xfrm>
            <a:custGeom>
              <a:avLst/>
              <a:gdLst/>
              <a:ahLst/>
              <a:cxnLst/>
              <a:rect r="r" b="b" t="t" l="l"/>
              <a:pathLst>
                <a:path h="3429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418302" y="6019943"/>
            <a:ext cx="1171575" cy="505862"/>
            <a:chOff x="0" y="0"/>
            <a:chExt cx="1562100" cy="6744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62100" cy="674482"/>
            </a:xfrm>
            <a:custGeom>
              <a:avLst/>
              <a:gdLst/>
              <a:ahLst/>
              <a:cxnLst/>
              <a:rect r="r" b="b" t="t" l="l"/>
              <a:pathLst>
                <a:path h="674482" w="1562100">
                  <a:moveTo>
                    <a:pt x="0" y="0"/>
                  </a:moveTo>
                  <a:lnTo>
                    <a:pt x="1562100" y="0"/>
                  </a:lnTo>
                  <a:lnTo>
                    <a:pt x="1562100" y="674482"/>
                  </a:lnTo>
                  <a:lnTo>
                    <a:pt x="0" y="674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1" r="0" b="252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562100" cy="68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16A3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PASS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026984" y="5110306"/>
            <a:ext cx="391319" cy="414337"/>
            <a:chOff x="0" y="0"/>
            <a:chExt cx="323850" cy="3429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23850" cy="342900"/>
            </a:xfrm>
            <a:custGeom>
              <a:avLst/>
              <a:gdLst/>
              <a:ahLst/>
              <a:cxnLst/>
              <a:rect r="r" b="b" t="t" l="l"/>
              <a:pathLst>
                <a:path h="3429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418302" y="5018782"/>
            <a:ext cx="1171575" cy="505862"/>
            <a:chOff x="0" y="0"/>
            <a:chExt cx="1562100" cy="6744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62100" cy="674482"/>
            </a:xfrm>
            <a:custGeom>
              <a:avLst/>
              <a:gdLst/>
              <a:ahLst/>
              <a:cxnLst/>
              <a:rect r="r" b="b" t="t" l="l"/>
              <a:pathLst>
                <a:path h="674482" w="1562100">
                  <a:moveTo>
                    <a:pt x="0" y="0"/>
                  </a:moveTo>
                  <a:lnTo>
                    <a:pt x="1562100" y="0"/>
                  </a:lnTo>
                  <a:lnTo>
                    <a:pt x="1562100" y="674482"/>
                  </a:lnTo>
                  <a:lnTo>
                    <a:pt x="0" y="674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1" r="0" b="252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562100" cy="68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16A3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PASS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43000" y="1019175"/>
            <a:ext cx="171450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Testing &amp; Model Decision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000" y="2209800"/>
            <a:ext cx="16444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B5563"/>
                </a:solidFill>
                <a:latin typeface="Inter Bold"/>
                <a:ea typeface="Inter Bold"/>
                <a:cs typeface="Inter Bold"/>
                <a:sym typeface="Inter Bold"/>
              </a:rPr>
              <a:t>MODEL DECISION THRESHOLD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4681" y="4257675"/>
            <a:ext cx="531852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&lt; 85 • ACCEPT / MATCH ≥ 85 • UNKNOWN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4681" y="5172075"/>
            <a:ext cx="2857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UNIT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286481" y="5133975"/>
            <a:ext cx="792956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Database integrity; parameterized SQL checks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4681" y="6173237"/>
            <a:ext cx="2857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INTEGRATION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4681" y="7336323"/>
            <a:ext cx="2857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FUNCTIONAL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4681" y="8506553"/>
            <a:ext cx="24288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USER ACCEPTANCE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286481" y="8425591"/>
            <a:ext cx="6679406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Real-world scanning and alert behavior</a:t>
            </a:r>
          </a:p>
        </p:txBody>
      </p:sp>
      <p:sp>
        <p:nvSpPr>
          <p:cNvPr name="AutoShape 42" id="42"/>
          <p:cNvSpPr/>
          <p:nvPr/>
        </p:nvSpPr>
        <p:spPr>
          <a:xfrm>
            <a:off x="1040361" y="5815531"/>
            <a:ext cx="153616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028700" y="6930617"/>
            <a:ext cx="153616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1017039" y="8045704"/>
            <a:ext cx="153616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3762606" y="4777088"/>
            <a:ext cx="0" cy="43849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12692095" y="4738166"/>
            <a:ext cx="0" cy="43849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1319213"/>
            <a:ext cx="171450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What the Prototype Achieves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3088" y="7915275"/>
            <a:ext cx="25003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CORE VALUE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29138" y="7500937"/>
            <a:ext cx="1205865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 b="true">
                <a:solidFill>
                  <a:srgbClr val="1E3A8A"/>
                </a:solidFill>
                <a:latin typeface="Inter Bold"/>
                <a:ea typeface="Inter Bold"/>
                <a:cs typeface="Inter Bold"/>
                <a:sym typeface="Inter Bold"/>
              </a:rPr>
              <a:t>A practical alternative to repetitive manual tracking using low-cost software components rather than specialized classroom hardware.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00188" y="3257550"/>
            <a:ext cx="685800" cy="685800"/>
            <a:chOff x="0" y="0"/>
            <a:chExt cx="914400" cy="9144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586412" y="3257550"/>
            <a:ext cx="685800" cy="685800"/>
            <a:chOff x="0" y="0"/>
            <a:chExt cx="914400" cy="9144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72638" y="3257550"/>
            <a:ext cx="685800" cy="685800"/>
            <a:chOff x="0" y="0"/>
            <a:chExt cx="914400" cy="9144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58862" y="3257550"/>
            <a:ext cx="685800" cy="685800"/>
            <a:chOff x="0" y="0"/>
            <a:chExt cx="914400" cy="9144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00188" y="4219575"/>
            <a:ext cx="397549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END-TO-END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0188" y="4757738"/>
            <a:ext cx="317182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Mobile app + AI backend + database work together.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86412" y="4219575"/>
            <a:ext cx="397549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REAL-TIME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86412" y="4757738"/>
            <a:ext cx="31718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Face detection and recognition designed for live scanning.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72638" y="4219575"/>
            <a:ext cx="397549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AUTO LOGGING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72638" y="4757738"/>
            <a:ext cx="317182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Attendance is stored securely with a timestamp.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58862" y="4219575"/>
            <a:ext cx="397549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PROXY 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58862" y="4757738"/>
            <a:ext cx="31718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Biometric verification makes simple impersonation difficult.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14500" y="3457575"/>
            <a:ext cx="257175" cy="285750"/>
            <a:chOff x="0" y="0"/>
            <a:chExt cx="342900" cy="3810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00725" y="3457575"/>
            <a:ext cx="257175" cy="285750"/>
            <a:chOff x="0" y="0"/>
            <a:chExt cx="342900" cy="3810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72662" y="3457575"/>
            <a:ext cx="285750" cy="285750"/>
            <a:chOff x="0" y="0"/>
            <a:chExt cx="381000" cy="381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923169" y="3457575"/>
            <a:ext cx="357188" cy="285750"/>
            <a:chOff x="0" y="0"/>
            <a:chExt cx="476250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000" t="0" r="-200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914400"/>
            <a:ext cx="171450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FUTURE ROADMAP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1319213"/>
            <a:ext cx="171450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Risks to Solve Next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2713833"/>
            <a:ext cx="800100" cy="800100"/>
            <a:chOff x="0" y="0"/>
            <a:chExt cx="1066800" cy="1066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29400" y="2713833"/>
            <a:ext cx="800100" cy="800100"/>
            <a:chOff x="0" y="0"/>
            <a:chExt cx="1066800" cy="10668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800" y="2713833"/>
            <a:ext cx="800100" cy="800100"/>
            <a:chOff x="0" y="0"/>
            <a:chExt cx="1066800" cy="1066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6863876"/>
            <a:ext cx="337185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01 </a:t>
            </a:r>
            <a:r>
              <a:rPr lang="en-US" sz="2849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Liveness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86488" y="6863876"/>
            <a:ext cx="418623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02 </a:t>
            </a:r>
            <a:r>
              <a:rPr lang="en-US" sz="2849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Deeper CNN recognition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4362" y="6863876"/>
            <a:ext cx="407193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03 </a:t>
            </a:r>
            <a:r>
              <a:rPr lang="en-US" sz="2849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TLS / Scalable cloud DB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71600" y="2942433"/>
            <a:ext cx="342900" cy="342900"/>
            <a:chOff x="0" y="0"/>
            <a:chExt cx="457200" cy="4572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15138" y="2942433"/>
            <a:ext cx="428625" cy="342900"/>
            <a:chOff x="0" y="0"/>
            <a:chExt cx="571500" cy="4572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0" y="2942433"/>
            <a:ext cx="342900" cy="342900"/>
            <a:chOff x="0" y="0"/>
            <a:chExt cx="457200" cy="4572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43000" y="3856833"/>
            <a:ext cx="25339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POOR LIGHTING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000" y="4304508"/>
            <a:ext cx="4229100" cy="173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324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Recognition performance degrades when classroom lighting is weak or inconsistent.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29400" y="3856833"/>
            <a:ext cx="29138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PHOTO SPOOFING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29400" y="4304508"/>
            <a:ext cx="4229100" cy="129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324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Lack of liveness detection means a 2D photograph may potentially fool the prototype.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15800" y="3856833"/>
            <a:ext cx="333526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BIOMETRIC PRIVACY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15800" y="4304508"/>
            <a:ext cx="4229100" cy="173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324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Student records require stronger encryption, protection, and responsible handling.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1485900"/>
            <a:ext cx="7086600" cy="7315200"/>
            <a:chOff x="0" y="0"/>
            <a:chExt cx="9448800" cy="97536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448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0" y="1485900"/>
            <a:ext cx="7086600" cy="7315200"/>
            <a:chOff x="0" y="0"/>
            <a:chExt cx="9448800" cy="9753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448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407766"/>
            <a:ext cx="9715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1988791"/>
            <a:ext cx="8311039" cy="169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From roll call to</a:t>
            </a:r>
          </a:p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 smart attendance.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4034580"/>
            <a:ext cx="7286625" cy="21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Lightweight computer vision automates attendance, reduces repetitive administrative work, and creates consistent, tamper-proof classroom records.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6607521"/>
            <a:ext cx="85367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KEY TAKEAWAY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3000" y="7064721"/>
            <a:ext cx="8536781" cy="569807"/>
            <a:chOff x="0" y="0"/>
            <a:chExt cx="11382375" cy="7597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82374" cy="759743"/>
            </a:xfrm>
            <a:custGeom>
              <a:avLst/>
              <a:gdLst/>
              <a:ahLst/>
              <a:cxnLst/>
              <a:rect r="r" b="b" t="t" l="l"/>
              <a:pathLst>
                <a:path h="759743" w="11382374">
                  <a:moveTo>
                    <a:pt x="0" y="0"/>
                  </a:moveTo>
                  <a:lnTo>
                    <a:pt x="11382374" y="0"/>
                  </a:lnTo>
                  <a:lnTo>
                    <a:pt x="11382374" y="759743"/>
                  </a:lnTo>
                  <a:lnTo>
                    <a:pt x="0" y="759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564" r="0" b="-2282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382375" cy="759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3A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Capture       Recognize          Verify         Log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14625" y="7143302"/>
            <a:ext cx="228600" cy="257175"/>
            <a:chOff x="0" y="0"/>
            <a:chExt cx="304800" cy="3429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77" r="0" b="-277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72075" y="7143302"/>
            <a:ext cx="228600" cy="257175"/>
            <a:chOff x="0" y="0"/>
            <a:chExt cx="304800" cy="3429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77" r="0" b="-277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86575" y="7143302"/>
            <a:ext cx="228600" cy="257175"/>
            <a:chOff x="0" y="0"/>
            <a:chExt cx="304800" cy="3429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77" r="0" b="-2777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914400"/>
            <a:ext cx="37253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A COMMON QUESTION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14450"/>
            <a:ext cx="933969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Why Students Cannot Use This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969123"/>
            <a:ext cx="8058150" cy="2888752"/>
            <a:chOff x="0" y="0"/>
            <a:chExt cx="10744200" cy="3851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44200" cy="3851656"/>
            </a:xfrm>
            <a:custGeom>
              <a:avLst/>
              <a:gdLst/>
              <a:ahLst/>
              <a:cxnLst/>
              <a:rect r="r" b="b" t="t" l="l"/>
              <a:pathLst>
                <a:path h="3851656" w="107442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439400" y="0"/>
                  </a:lnTo>
                  <a:cubicBezTo>
                    <a:pt x="10607675" y="0"/>
                    <a:pt x="10744200" y="136398"/>
                    <a:pt x="10744200" y="304800"/>
                  </a:cubicBezTo>
                  <a:lnTo>
                    <a:pt x="10744200" y="3546856"/>
                  </a:lnTo>
                  <a:cubicBezTo>
                    <a:pt x="10744200" y="3715131"/>
                    <a:pt x="10607802" y="3851656"/>
                    <a:pt x="10439400" y="3851656"/>
                  </a:cubicBezTo>
                  <a:lnTo>
                    <a:pt x="304800" y="3851656"/>
                  </a:lnTo>
                  <a:cubicBezTo>
                    <a:pt x="136525" y="3851656"/>
                    <a:pt x="0" y="3715258"/>
                    <a:pt x="0" y="3546856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15450" y="2969123"/>
            <a:ext cx="8058150" cy="2888752"/>
            <a:chOff x="0" y="0"/>
            <a:chExt cx="10744200" cy="38516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44200" cy="3851656"/>
            </a:xfrm>
            <a:custGeom>
              <a:avLst/>
              <a:gdLst/>
              <a:ahLst/>
              <a:cxnLst/>
              <a:rect r="r" b="b" t="t" l="l"/>
              <a:pathLst>
                <a:path h="3851656" w="107442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439400" y="0"/>
                  </a:lnTo>
                  <a:cubicBezTo>
                    <a:pt x="10607675" y="0"/>
                    <a:pt x="10744200" y="136398"/>
                    <a:pt x="10744200" y="304800"/>
                  </a:cubicBezTo>
                  <a:lnTo>
                    <a:pt x="10744200" y="3546856"/>
                  </a:lnTo>
                  <a:cubicBezTo>
                    <a:pt x="10744200" y="3715131"/>
                    <a:pt x="10607802" y="3851656"/>
                    <a:pt x="10439400" y="3851656"/>
                  </a:cubicBezTo>
                  <a:lnTo>
                    <a:pt x="304800" y="3851656"/>
                  </a:lnTo>
                  <a:cubicBezTo>
                    <a:pt x="136525" y="3851656"/>
                    <a:pt x="0" y="3715258"/>
                    <a:pt x="0" y="3546856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200775"/>
            <a:ext cx="8058150" cy="2888752"/>
            <a:chOff x="0" y="0"/>
            <a:chExt cx="10744200" cy="3851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44200" cy="3851656"/>
            </a:xfrm>
            <a:custGeom>
              <a:avLst/>
              <a:gdLst/>
              <a:ahLst/>
              <a:cxnLst/>
              <a:rect r="r" b="b" t="t" l="l"/>
              <a:pathLst>
                <a:path h="3851656" w="107442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439400" y="0"/>
                  </a:lnTo>
                  <a:cubicBezTo>
                    <a:pt x="10607675" y="0"/>
                    <a:pt x="10744200" y="136398"/>
                    <a:pt x="10744200" y="304800"/>
                  </a:cubicBezTo>
                  <a:lnTo>
                    <a:pt x="10744200" y="3546856"/>
                  </a:lnTo>
                  <a:cubicBezTo>
                    <a:pt x="10744200" y="3715131"/>
                    <a:pt x="10607802" y="3851656"/>
                    <a:pt x="10439400" y="3851656"/>
                  </a:cubicBezTo>
                  <a:lnTo>
                    <a:pt x="304800" y="3851656"/>
                  </a:lnTo>
                  <a:cubicBezTo>
                    <a:pt x="136525" y="3851656"/>
                    <a:pt x="0" y="3715258"/>
                    <a:pt x="0" y="3546856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15450" y="6200775"/>
            <a:ext cx="8058150" cy="2888752"/>
            <a:chOff x="0" y="0"/>
            <a:chExt cx="10744200" cy="38516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4200" cy="3851656"/>
            </a:xfrm>
            <a:custGeom>
              <a:avLst/>
              <a:gdLst/>
              <a:ahLst/>
              <a:cxnLst/>
              <a:rect r="r" b="b" t="t" l="l"/>
              <a:pathLst>
                <a:path h="3851656" w="107442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439400" y="0"/>
                  </a:lnTo>
                  <a:cubicBezTo>
                    <a:pt x="10607675" y="0"/>
                    <a:pt x="10744200" y="136398"/>
                    <a:pt x="10744200" y="304800"/>
                  </a:cubicBezTo>
                  <a:lnTo>
                    <a:pt x="10744200" y="3546856"/>
                  </a:lnTo>
                  <a:cubicBezTo>
                    <a:pt x="10744200" y="3715131"/>
                    <a:pt x="10607802" y="3851656"/>
                    <a:pt x="10439400" y="3851656"/>
                  </a:cubicBezTo>
                  <a:lnTo>
                    <a:pt x="304800" y="3851656"/>
                  </a:lnTo>
                  <a:cubicBezTo>
                    <a:pt x="136525" y="3851656"/>
                    <a:pt x="0" y="3715258"/>
                    <a:pt x="0" y="3546856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5900" y="3540623"/>
            <a:ext cx="6915150" cy="457200"/>
            <a:chOff x="0" y="0"/>
            <a:chExt cx="92202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220200" cy="609600"/>
            </a:xfrm>
            <a:custGeom>
              <a:avLst/>
              <a:gdLst/>
              <a:ahLst/>
              <a:cxnLst/>
              <a:rect r="r" b="b" t="t" l="l"/>
              <a:pathLst>
                <a:path h="609600" w="9220200">
                  <a:moveTo>
                    <a:pt x="0" y="0"/>
                  </a:moveTo>
                  <a:lnTo>
                    <a:pt x="9220200" y="0"/>
                  </a:lnTo>
                  <a:lnTo>
                    <a:pt x="9220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" r="0" b="-156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86950" y="3540623"/>
            <a:ext cx="6915150" cy="457200"/>
            <a:chOff x="0" y="0"/>
            <a:chExt cx="9220200" cy="6096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220200" cy="609600"/>
            </a:xfrm>
            <a:custGeom>
              <a:avLst/>
              <a:gdLst/>
              <a:ahLst/>
              <a:cxnLst/>
              <a:rect r="r" b="b" t="t" l="l"/>
              <a:pathLst>
                <a:path h="609600" w="9220200">
                  <a:moveTo>
                    <a:pt x="0" y="0"/>
                  </a:moveTo>
                  <a:lnTo>
                    <a:pt x="9220200" y="0"/>
                  </a:lnTo>
                  <a:lnTo>
                    <a:pt x="9220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85900" y="6772275"/>
            <a:ext cx="6915150" cy="457200"/>
            <a:chOff x="0" y="0"/>
            <a:chExt cx="9220200" cy="6096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220200" cy="609600"/>
            </a:xfrm>
            <a:custGeom>
              <a:avLst/>
              <a:gdLst/>
              <a:ahLst/>
              <a:cxnLst/>
              <a:rect r="r" b="b" t="t" l="l"/>
              <a:pathLst>
                <a:path h="609600" w="9220200">
                  <a:moveTo>
                    <a:pt x="0" y="0"/>
                  </a:moveTo>
                  <a:lnTo>
                    <a:pt x="9220200" y="0"/>
                  </a:lnTo>
                  <a:lnTo>
                    <a:pt x="9220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86950" y="6772275"/>
            <a:ext cx="6915150" cy="457200"/>
            <a:chOff x="0" y="0"/>
            <a:chExt cx="9220200" cy="6096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220200" cy="609600"/>
            </a:xfrm>
            <a:custGeom>
              <a:avLst/>
              <a:gdLst/>
              <a:ahLst/>
              <a:cxnLst/>
              <a:rect r="r" b="b" t="t" l="l"/>
              <a:pathLst>
                <a:path h="609600" w="9220200">
                  <a:moveTo>
                    <a:pt x="0" y="0"/>
                  </a:moveTo>
                  <a:lnTo>
                    <a:pt x="9220200" y="0"/>
                  </a:lnTo>
                  <a:lnTo>
                    <a:pt x="9220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85900" y="4340723"/>
            <a:ext cx="511189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Proof of Physical Presence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5900" y="4878886"/>
            <a:ext cx="8643938" cy="4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Guarantees actual classroom presence.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86950" y="4340723"/>
            <a:ext cx="327053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Threat Mitigation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86950" y="4878886"/>
            <a:ext cx="8401050" cy="4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 supervision blocks 2D spoofing.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5900" y="7572375"/>
            <a:ext cx="539234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Attack Surface Minimization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5900" y="8110537"/>
            <a:ext cx="8643938" cy="4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Secures local biometric database access.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6950" y="7572375"/>
            <a:ext cx="357815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Network Reliability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86950" y="8110537"/>
            <a:ext cx="8401050" cy="4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Prevents concurrent student network congestion.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3" y="-46058"/>
            <a:ext cx="19070418" cy="10379116"/>
            <a:chOff x="0" y="0"/>
            <a:chExt cx="5022662" cy="27335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2662" cy="2733594"/>
            </a:xfrm>
            <a:custGeom>
              <a:avLst/>
              <a:gdLst/>
              <a:ahLst/>
              <a:cxnLst/>
              <a:rect r="r" b="b" t="t" l="l"/>
              <a:pathLst>
                <a:path h="2733594" w="5022662">
                  <a:moveTo>
                    <a:pt x="0" y="0"/>
                  </a:moveTo>
                  <a:lnTo>
                    <a:pt x="5022662" y="0"/>
                  </a:lnTo>
                  <a:lnTo>
                    <a:pt x="5022662" y="2733594"/>
                  </a:lnTo>
                  <a:lnTo>
                    <a:pt x="0" y="2733594"/>
                  </a:lnTo>
                  <a:close/>
                </a:path>
              </a:pathLst>
            </a:custGeom>
            <a:solidFill>
              <a:srgbClr val="A0B0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022662" cy="2733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40021" y="2604649"/>
            <a:ext cx="9541864" cy="5735719"/>
          </a:xfrm>
          <a:custGeom>
            <a:avLst/>
            <a:gdLst/>
            <a:ahLst/>
            <a:cxnLst/>
            <a:rect r="r" b="b" t="t" l="l"/>
            <a:pathLst>
              <a:path h="5735719" w="9541864">
                <a:moveTo>
                  <a:pt x="0" y="0"/>
                </a:moveTo>
                <a:lnTo>
                  <a:pt x="9541863" y="0"/>
                </a:lnTo>
                <a:lnTo>
                  <a:pt x="9541863" y="5735719"/>
                </a:lnTo>
                <a:lnTo>
                  <a:pt x="0" y="5735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387" t="-45411" r="-48272" b="-33938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27438" y="-621823"/>
            <a:ext cx="23183021" cy="11174220"/>
            <a:chOff x="0" y="0"/>
            <a:chExt cx="6105816" cy="2943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5816" cy="2943004"/>
            </a:xfrm>
            <a:custGeom>
              <a:avLst/>
              <a:gdLst/>
              <a:ahLst/>
              <a:cxnLst/>
              <a:rect r="r" b="b" t="t" l="l"/>
              <a:pathLst>
                <a:path h="2943004" w="6105816">
                  <a:moveTo>
                    <a:pt x="0" y="0"/>
                  </a:moveTo>
                  <a:lnTo>
                    <a:pt x="6105816" y="0"/>
                  </a:lnTo>
                  <a:lnTo>
                    <a:pt x="6105816" y="2943004"/>
                  </a:lnTo>
                  <a:lnTo>
                    <a:pt x="0" y="2943004"/>
                  </a:lnTo>
                  <a:close/>
                </a:path>
              </a:pathLst>
            </a:custGeom>
            <a:solidFill>
              <a:srgbClr val="A0B0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105816" cy="2943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4602" y="4264978"/>
            <a:ext cx="14958796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i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THANK YOU FOR YOUR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DAHUtLFQPrw</dc:identifier>
  <dcterms:modified xsi:type="dcterms:W3CDTF">2011-08-01T06:04:30Z</dcterms:modified>
  <cp:revision>1</cp:revision>
  <dc:title>Smart Attendance System: AI-Powered Facial Recognition</dc:title>
</cp:coreProperties>
</file>